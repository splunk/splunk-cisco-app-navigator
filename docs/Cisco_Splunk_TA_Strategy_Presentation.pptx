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CiscoSansTT" panose="020B0503020201020303" pitchFamily="34" charset="0"/>
      <p:regular r:id="rId19"/>
      <p:bold r:id="rId20"/>
      <p:italic r:id="rId21"/>
      <p:boldItalic r:id="rId22"/>
    </p:embeddedFont>
    <p:embeddedFont>
      <p:font typeface="CiscoSansTT Medium" panose="020B0903020201090303" pitchFamily="34" charset="0"/>
      <p:regular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5C5C5A04-3B4F-46A7-98EA-FAD3CC0CE88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Opening Slides" id="{6B5BE202-19CA-474B-817E-1B720625FA32}">
          <p14:sldIdLst/>
        </p14:section>
        <p14:section name="Segues &amp; Sections" id="{2B563D00-2FBF-435C-B50A-EEB47C8F3C18}">
          <p14:sldIdLst/>
        </p14:section>
        <p14:section name="Specialty Slides" id="{B91BAC9C-0BFA-4018-ADEF-F561B87D5690}">
          <p14:sldIdLst/>
        </p14:section>
        <p14:section name="Image Layouts" id="{4B93AD70-97D8-4168-BC8C-1DC7738C5912}">
          <p14:sldIdLst/>
        </p14:section>
        <p14:section name="Standard Layouts" id="{215EA447-BC49-414D-B95B-07E9CEBA94EC}">
          <p14:sldIdLst/>
        </p14:section>
        <p14:section name="Section Layouts" id="{8DC34D38-B060-4125-8324-A3F11FD5E484}">
          <p14:sldIdLst/>
        </p14:section>
        <p14:section name="Charts and Tables" id="{E24F7968-37D8-415F-B9BA-53D0F9C78D5F}">
          <p14:sldIdLst/>
        </p14:section>
        <p14:section name="Closing" id="{B139BF10-315B-4780-A8A1-1F17D5CB2565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0000"/>
    <a:srgbClr val="EB4651"/>
    <a:srgbClr val="45991F"/>
    <a:srgbClr val="16BDEB"/>
    <a:srgbClr val="6A7481"/>
    <a:srgbClr val="525E6C"/>
    <a:srgbClr val="E6E6E6"/>
    <a:srgbClr val="07182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799E12-0C21-4100-90C4-4D49BAEE0866}" v="7" dt="2025-05-12T20:10:47.5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86" autoAdjust="0"/>
    <p:restoredTop sz="96083" autoAdjust="0"/>
  </p:normalViewPr>
  <p:slideViewPr>
    <p:cSldViewPr snapToGrid="0" showGuides="1">
      <p:cViewPr>
        <p:scale>
          <a:sx n="183" d="100"/>
          <a:sy n="183" d="100"/>
        </p:scale>
        <p:origin x="144" y="-93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8704"/>
    </p:cViewPr>
  </p:sorterViewPr>
  <p:notesViewPr>
    <p:cSldViewPr snapToGrid="0">
      <p:cViewPr varScale="1">
        <p:scale>
          <a:sx n="122" d="100"/>
          <a:sy n="122" d="100"/>
        </p:scale>
        <p:origin x="413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Engineer-Years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5A637"/>
              </a:solidFill>
            </c:spPr>
            <c:extLst>
              <c:ext xmlns:c16="http://schemas.microsoft.com/office/drawing/2014/chart" uri="{C3380CC4-5D6E-409C-BE32-E72D297353CC}">
                <c16:uniqueId val="{00000001-B419-F74F-B406-E6F09326BE5C}"/>
              </c:ext>
            </c:extLst>
          </c:dPt>
          <c:dPt>
            <c:idx val="1"/>
            <c:invertIfNegative val="1"/>
            <c:bubble3D val="0"/>
            <c:spPr>
              <a:solidFill>
                <a:srgbClr val="F9A825"/>
              </a:solidFill>
            </c:spPr>
            <c:extLst>
              <c:ext xmlns:c16="http://schemas.microsoft.com/office/drawing/2014/chart" uri="{C3380CC4-5D6E-409C-BE32-E72D297353CC}">
                <c16:uniqueId val="{00000003-B419-F74F-B406-E6F09326BE5C}"/>
              </c:ext>
            </c:extLst>
          </c:dPt>
          <c:dPt>
            <c:idx val="2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5-B419-F74F-B406-E6F09326BE5C}"/>
              </c:ext>
            </c:extLst>
          </c:dPt>
          <c:dPt>
            <c:idx val="3"/>
            <c:invertIfNegative val="1"/>
            <c:bubble3D val="0"/>
            <c:spPr>
              <a:solidFill>
                <a:srgbClr val="8B0000"/>
              </a:solidFill>
            </c:spPr>
            <c:extLst>
              <c:ext xmlns:c16="http://schemas.microsoft.com/office/drawing/2014/chart" uri="{C3380CC4-5D6E-409C-BE32-E72D297353CC}">
                <c16:uniqueId val="{00000007-B419-F74F-B406-E6F09326BE5C}"/>
              </c:ext>
            </c:extLst>
          </c:dPt>
          <c:cat>
            <c:strRef>
              <c:f>Sheet1!$A$2:$A$5</c:f>
              <c:strCache>
                <c:ptCount val="4"/>
                <c:pt idx="0">
                  <c:v>1 TA</c:v>
                </c:pt>
                <c:pt idx="1">
                  <c:v>23 TAs</c:v>
                </c:pt>
                <c:pt idx="2">
                  <c:v>57 Products</c:v>
                </c:pt>
                <c:pt idx="3">
                  <c:v>400 Sources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</c:v>
                </c:pt>
                <c:pt idx="1">
                  <c:v>7</c:v>
                </c:pt>
                <c:pt idx="2">
                  <c:v>17</c:v>
                </c:pt>
                <c:pt idx="3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19-F74F-B406-E6F09326B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rPr lang="en-US"/>
                  <a:t>Engineer-Years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Engineer-Years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9A825"/>
              </a:solidFill>
            </c:spPr>
            <c:extLst>
              <c:ext xmlns:c16="http://schemas.microsoft.com/office/drawing/2014/chart" uri="{C3380CC4-5D6E-409C-BE32-E72D297353CC}">
                <c16:uniqueId val="{00000001-5F08-434D-A132-E9304D4C3C09}"/>
              </c:ext>
            </c:extLst>
          </c:dPt>
          <c:dPt>
            <c:idx val="1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3-5F08-434D-A132-E9304D4C3C09}"/>
              </c:ext>
            </c:extLst>
          </c:dPt>
          <c:dPt>
            <c:idx val="2"/>
            <c:invertIfNegative val="1"/>
            <c:bubble3D val="0"/>
            <c:spPr>
              <a:solidFill>
                <a:srgbClr val="049FD9"/>
              </a:solidFill>
            </c:spPr>
            <c:extLst>
              <c:ext xmlns:c16="http://schemas.microsoft.com/office/drawing/2014/chart" uri="{C3380CC4-5D6E-409C-BE32-E72D297353CC}">
                <c16:uniqueId val="{00000005-5F08-434D-A132-E9304D4C3C09}"/>
              </c:ext>
            </c:extLst>
          </c:dPt>
          <c:dPt>
            <c:idx val="3"/>
            <c:invertIfNegative val="1"/>
            <c:bubble3D val="0"/>
            <c:spPr>
              <a:solidFill>
                <a:srgbClr val="65A637"/>
              </a:solidFill>
            </c:spPr>
            <c:extLst>
              <c:ext xmlns:c16="http://schemas.microsoft.com/office/drawing/2014/chart" uri="{C3380CC4-5D6E-409C-BE32-E72D297353CC}">
                <c16:uniqueId val="{00000007-5F08-434D-A132-E9304D4C3C09}"/>
              </c:ext>
            </c:extLst>
          </c:dPt>
          <c:cat>
            <c:strRef>
              <c:f>Sheet1!$A$2:$A$5</c:f>
              <c:strCache>
                <c:ptCount val="4"/>
                <c:pt idx="0">
                  <c:v>Option 1:
Hire (57)</c:v>
                </c:pt>
                <c:pt idx="1">
                  <c:v>Option 1:
Hire (400)</c:v>
                </c:pt>
                <c:pt idx="2">
                  <c:v>Option 2:
Static Super</c:v>
                </c:pt>
                <c:pt idx="3">
                  <c:v>Our Approach:
AI + DCE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133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08-434D-A132-E9304D4C3C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rPr lang="en-US"/>
                  <a:t>Engineer-Years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8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0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9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73122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4735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7370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22890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205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12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77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1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35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80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3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1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9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3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9898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18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0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6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3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9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47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07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97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20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8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1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1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59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28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06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91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1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1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09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26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9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1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4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3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9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74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2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31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098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34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r:embed="rId5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37073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48" r:id="rId2"/>
    <p:sldLayoutId id="2147483787" r:id="rId3"/>
    <p:sldLayoutId id="2147483788" r:id="rId4"/>
    <p:sldLayoutId id="2147483773" r:id="rId5"/>
    <p:sldLayoutId id="2147483799" r:id="rId6"/>
    <p:sldLayoutId id="2147483800" r:id="rId7"/>
    <p:sldLayoutId id="2147483801" r:id="rId8"/>
    <p:sldLayoutId id="2147483668" r:id="rId9"/>
    <p:sldLayoutId id="2147483747" r:id="rId10"/>
    <p:sldLayoutId id="2147483754" r:id="rId11"/>
    <p:sldLayoutId id="2147483753" r:id="rId12"/>
    <p:sldLayoutId id="2147483763" r:id="rId13"/>
    <p:sldLayoutId id="2147483764" r:id="rId14"/>
    <p:sldLayoutId id="2147483771" r:id="rId15"/>
    <p:sldLayoutId id="2147483777" r:id="rId16"/>
    <p:sldLayoutId id="2147483804" r:id="rId17"/>
    <p:sldLayoutId id="2147483789" r:id="rId18"/>
    <p:sldLayoutId id="2147483805" r:id="rId19"/>
    <p:sldLayoutId id="2147483809" r:id="rId20"/>
    <p:sldLayoutId id="2147483808" r:id="rId21"/>
    <p:sldLayoutId id="2147483807" r:id="rId22"/>
    <p:sldLayoutId id="2147483810" r:id="rId23"/>
    <p:sldLayoutId id="2147483796" r:id="rId24"/>
    <p:sldLayoutId id="2147483780" r:id="rId25"/>
    <p:sldLayoutId id="2147483784" r:id="rId26"/>
    <p:sldLayoutId id="2147483778" r:id="rId27"/>
    <p:sldLayoutId id="2147483781" r:id="rId28"/>
    <p:sldLayoutId id="2147483779" r:id="rId29"/>
    <p:sldLayoutId id="2147483774" r:id="rId30"/>
    <p:sldLayoutId id="2147483775" r:id="rId31"/>
    <p:sldLayoutId id="2147483776" r:id="rId32"/>
    <p:sldLayoutId id="2147483783" r:id="rId33"/>
    <p:sldLayoutId id="2147483797" r:id="rId34"/>
    <p:sldLayoutId id="2147483794" r:id="rId35"/>
    <p:sldLayoutId id="2147483806" r:id="rId36"/>
    <p:sldLayoutId id="2147483798" r:id="rId37"/>
    <p:sldLayoutId id="2147483791" r:id="rId38"/>
    <p:sldLayoutId id="2147483793" r:id="rId39"/>
    <p:sldLayoutId id="2147483792" r:id="rId40"/>
    <p:sldLayoutId id="2147483795" r:id="rId41"/>
    <p:sldLayoutId id="2147483762" r:id="rId42"/>
    <p:sldLayoutId id="2147483785" r:id="rId43"/>
    <p:sldLayoutId id="2147483786" r:id="rId44"/>
    <p:sldLayoutId id="2147483790" r:id="rId45"/>
    <p:sldLayoutId id="2147483756" r:id="rId46"/>
    <p:sldLayoutId id="2147483761" r:id="rId47"/>
    <p:sldLayoutId id="2147483758" r:id="rId48"/>
    <p:sldLayoutId id="2147483760" r:id="rId49"/>
    <p:sldLayoutId id="2147483757" r:id="rId50"/>
    <p:sldLayoutId id="2147483802" r:id="rId51"/>
    <p:sldLayoutId id="2147483751" r:id="rId52"/>
    <p:sldLayoutId id="2147483803" r:id="rId53"/>
    <p:sldLayoutId id="2147483749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7476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9" orient="horz" pos="3827" userDrawn="1">
          <p15:clr>
            <a:srgbClr val="9FCC3B"/>
          </p15:clr>
        </p15:guide>
        <p15:guide id="10" orient="horz" pos="202" userDrawn="1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 userDrawn="1">
          <p15:clr>
            <a:srgbClr val="A4A3A4"/>
          </p15:clr>
        </p15:guide>
        <p15:guide id="13" orient="horz" pos="2552" userDrawn="1">
          <p15:clr>
            <a:srgbClr val="A4A3A4"/>
          </p15:clr>
        </p15:guide>
        <p15:guide id="14" orient="horz" pos="600" userDrawn="1">
          <p15:clr>
            <a:srgbClr val="A4A3A4"/>
          </p15:clr>
        </p15:guide>
        <p15:guide id="15" orient="horz" pos="1766" userDrawn="1">
          <p15:clr>
            <a:srgbClr val="A4A3A4"/>
          </p15:clr>
        </p15:guide>
        <p15:guide id="16" orient="horz" pos="2355" userDrawn="1">
          <p15:clr>
            <a:srgbClr val="A4A3A4"/>
          </p15:clr>
        </p15:guide>
        <p15:guide id="18" orient="horz" pos="4118" userDrawn="1">
          <p15:clr>
            <a:srgbClr val="F26B43"/>
          </p15:clr>
        </p15:guide>
        <p15:guide id="19" orient="horz" pos="1178" userDrawn="1">
          <p15:clr>
            <a:srgbClr val="A4A3A4"/>
          </p15:clr>
        </p15:guide>
        <p15:guide id="20" orient="horz" pos="1374" userDrawn="1">
          <p15:clr>
            <a:srgbClr val="A4A3A4"/>
          </p15:clr>
        </p15:guide>
        <p15:guide id="21" orient="horz" pos="1570" userDrawn="1">
          <p15:clr>
            <a:srgbClr val="A4A3A4"/>
          </p15:clr>
        </p15:guide>
        <p15:guide id="22" pos="703" userDrawn="1">
          <p15:clr>
            <a:srgbClr val="A4A3A4"/>
          </p15:clr>
        </p15:guide>
        <p15:guide id="23" pos="820" userDrawn="1">
          <p15:clr>
            <a:srgbClr val="A4A3A4"/>
          </p15:clr>
        </p15:guide>
        <p15:guide id="24" pos="1321" userDrawn="1">
          <p15:clr>
            <a:srgbClr val="A4A3A4"/>
          </p15:clr>
        </p15:guide>
        <p15:guide id="25" pos="1435" userDrawn="1">
          <p15:clr>
            <a:srgbClr val="A4A3A4"/>
          </p15:clr>
        </p15:guide>
        <p15:guide id="26" pos="1936" userDrawn="1">
          <p15:clr>
            <a:srgbClr val="A4A3A4"/>
          </p15:clr>
        </p15:guide>
        <p15:guide id="27" pos="2051" userDrawn="1">
          <p15:clr>
            <a:srgbClr val="A4A3A4"/>
          </p15:clr>
        </p15:guide>
        <p15:guide id="28" pos="2551" userDrawn="1">
          <p15:clr>
            <a:srgbClr val="A4A3A4"/>
          </p15:clr>
        </p15:guide>
        <p15:guide id="29" pos="2665" userDrawn="1">
          <p15:clr>
            <a:srgbClr val="A4A3A4"/>
          </p15:clr>
        </p15:guide>
        <p15:guide id="30" pos="3167" userDrawn="1">
          <p15:clr>
            <a:srgbClr val="A4A3A4"/>
          </p15:clr>
        </p15:guide>
        <p15:guide id="31" pos="3281" userDrawn="1">
          <p15:clr>
            <a:srgbClr val="A4A3A4"/>
          </p15:clr>
        </p15:guide>
        <p15:guide id="32" pos="3783" userDrawn="1">
          <p15:clr>
            <a:srgbClr val="A4A3A4"/>
          </p15:clr>
        </p15:guide>
        <p15:guide id="33" pos="3896" userDrawn="1">
          <p15:clr>
            <a:srgbClr val="A4A3A4"/>
          </p15:clr>
        </p15:guide>
        <p15:guide id="34" pos="4397" userDrawn="1">
          <p15:clr>
            <a:srgbClr val="A4A3A4"/>
          </p15:clr>
        </p15:guide>
        <p15:guide id="35" pos="4512" userDrawn="1">
          <p15:clr>
            <a:srgbClr val="A4A3A4"/>
          </p15:clr>
        </p15:guide>
        <p15:guide id="36" pos="5013" userDrawn="1">
          <p15:clr>
            <a:srgbClr val="A4A3A4"/>
          </p15:clr>
        </p15:guide>
        <p15:guide id="37" pos="5128" userDrawn="1">
          <p15:clr>
            <a:srgbClr val="A4A3A4"/>
          </p15:clr>
        </p15:guide>
        <p15:guide id="38" pos="5629" userDrawn="1">
          <p15:clr>
            <a:srgbClr val="A4A3A4"/>
          </p15:clr>
        </p15:guide>
        <p15:guide id="39" pos="5742" userDrawn="1">
          <p15:clr>
            <a:srgbClr val="A4A3A4"/>
          </p15:clr>
        </p15:guide>
        <p15:guide id="40" pos="6244" userDrawn="1">
          <p15:clr>
            <a:srgbClr val="A4A3A4"/>
          </p15:clr>
        </p15:guide>
        <p15:guide id="41" pos="6359" userDrawn="1">
          <p15:clr>
            <a:srgbClr val="A4A3A4"/>
          </p15:clr>
        </p15:guide>
        <p15:guide id="42" pos="6859" userDrawn="1">
          <p15:clr>
            <a:srgbClr val="A4A3A4"/>
          </p15:clr>
        </p15:guide>
        <p15:guide id="43" pos="6975" userDrawn="1">
          <p15:clr>
            <a:srgbClr val="A4A3A4"/>
          </p15:clr>
        </p15:guide>
        <p15:guide id="44" orient="horz" pos="784" userDrawn="1">
          <p15:clr>
            <a:srgbClr val="A4A3A4"/>
          </p15:clr>
        </p15:guide>
        <p15:guide id="45" orient="horz" pos="980" userDrawn="1">
          <p15:clr>
            <a:srgbClr val="A4A3A4"/>
          </p15:clr>
        </p15:guide>
        <p15:guide id="46" orient="horz" pos="1962" userDrawn="1">
          <p15:clr>
            <a:srgbClr val="A4A3A4"/>
          </p15:clr>
        </p15:guide>
        <p15:guide id="47" orient="horz" pos="2747" userDrawn="1">
          <p15:clr>
            <a:srgbClr val="A4A3A4"/>
          </p15:clr>
        </p15:guide>
        <p15:guide id="48" orient="horz" pos="2945" userDrawn="1">
          <p15:clr>
            <a:srgbClr val="A4A3A4"/>
          </p15:clr>
        </p15:guide>
        <p15:guide id="49" orient="horz" pos="3141" userDrawn="1">
          <p15:clr>
            <a:srgbClr val="A4A3A4"/>
          </p15:clr>
        </p15:guide>
        <p15:guide id="50" orient="horz" pos="3337" userDrawn="1">
          <p15:clr>
            <a:srgbClr val="A4A3A4"/>
          </p15:clr>
        </p15:guide>
        <p15:guide id="51" orient="horz" pos="3535" userDrawn="1">
          <p15:clr>
            <a:srgbClr val="A4A3A4"/>
          </p15:clr>
        </p15:guide>
        <p15:guide id="52" orient="horz" pos="3730" userDrawn="1">
          <p15:clr>
            <a:srgbClr val="A4A3A4"/>
          </p15:clr>
        </p15:guide>
        <p15:guide id="53" orient="horz" pos="3936" userDrawn="1">
          <p15:clr>
            <a:srgbClr val="A4A3A4"/>
          </p15:clr>
        </p15:guide>
        <p15:guide id="54" orient="horz" pos="187" userDrawn="1">
          <p15:clr>
            <a:srgbClr val="9FCC3B"/>
          </p15:clr>
        </p15:guide>
        <p15:guide id="55" pos="455" userDrawn="1">
          <p15:clr>
            <a:srgbClr val="9FCC3B"/>
          </p15:clr>
        </p15:guide>
        <p15:guide id="56" pos="1069" userDrawn="1">
          <p15:clr>
            <a:srgbClr val="9FCC3B"/>
          </p15:clr>
        </p15:guide>
        <p15:guide id="57" pos="1685" userDrawn="1">
          <p15:clr>
            <a:srgbClr val="9FCC3B"/>
          </p15:clr>
        </p15:guide>
        <p15:guide id="58" pos="2301" userDrawn="1">
          <p15:clr>
            <a:srgbClr val="9FCC3B"/>
          </p15:clr>
        </p15:guide>
        <p15:guide id="59" pos="2915" userDrawn="1">
          <p15:clr>
            <a:srgbClr val="9FCC3B"/>
          </p15:clr>
        </p15:guide>
        <p15:guide id="60" pos="3531" userDrawn="1">
          <p15:clr>
            <a:srgbClr val="9FCC3B"/>
          </p15:clr>
        </p15:guide>
        <p15:guide id="61" pos="4146" userDrawn="1">
          <p15:clr>
            <a:srgbClr val="9FCC3B"/>
          </p15:clr>
        </p15:guide>
        <p15:guide id="62" pos="4762" userDrawn="1">
          <p15:clr>
            <a:srgbClr val="9FCC3B"/>
          </p15:clr>
        </p15:guide>
        <p15:guide id="63" pos="5378" userDrawn="1">
          <p15:clr>
            <a:srgbClr val="9FCC3B"/>
          </p15:clr>
        </p15:guide>
        <p15:guide id="64" pos="5992" userDrawn="1">
          <p15:clr>
            <a:srgbClr val="9FCC3B"/>
          </p15:clr>
        </p15:guide>
        <p15:guide id="65" pos="6609" userDrawn="1">
          <p15:clr>
            <a:srgbClr val="9FCC3B"/>
          </p15:clr>
        </p15:guide>
        <p15:guide id="66" pos="7225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rPr dirty="0"/>
              <a:t>Cisco-Splunk TA Strategy</a:t>
            </a:r>
            <a:r>
              <a:rPr lang="en-US" dirty="0"/>
              <a:t> (latest from copilot)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Findings, Challenges &amp; The Path Forward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Alan Ivarson</a:t>
            </a:r>
          </a:p>
          <a:p>
            <a:r>
              <a:t>Group Vice President, Field Solutions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Amir (AK) Khamis</a:t>
            </a:r>
          </a:p>
          <a:p>
            <a:r>
              <a:t>Principal Architect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February 2026  •  45-Minute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1.  The Problem — 110 Cisco Apps, No Clear Answer</a:t>
            </a:r>
          </a:p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2.  The Confusion Problem — 13 Firewall Apps, 1 Correct Answer</a:t>
            </a:r>
          </a:p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3.  Stakeholder Feedback — Top 12 Challenges &amp; The Magic 6</a:t>
            </a:r>
          </a:p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4.  Option 1: Hire &amp; Build — Doesn't Scale</a:t>
            </a:r>
          </a:p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5.  Option 2: Super App Bundling — Right Direction, Still Expensive</a:t>
            </a:r>
          </a:p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6.  Two Deliverables — Quick Win (CCC) + Strategic Play (Super App)</a:t>
            </a:r>
          </a:p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7.  The AI-Powered Path Forward</a:t>
            </a:r>
          </a:p>
          <a:p>
            <a:pPr>
              <a:spcAft>
                <a:spcPts val="1400"/>
              </a:spcAft>
              <a:defRPr sz="2000" b="1">
                <a:solidFill>
                  <a:srgbClr val="212121"/>
                </a:solidFill>
              </a:defRPr>
            </a:pPr>
            <a:r>
              <a:t>8.  Next Steps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32F2F"/>
                </a:solidFill>
              </a:defRPr>
            </a:pPr>
            <a:r>
              <a:t>1. The Problem — 110 Apps, No Clear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49FD9"/>
                </a:solidFill>
              </a:defRPr>
            </a:pPr>
            <a:r>
              <a:t>Per Kunal Mukerjee (SVP Engineering): Splunk integrations are the "Last Mile" of the Cisco Data Fabric (CDF). 125 listings audited; 13 SOAR connectors + 2 prerequisites excluded = 110 apps &amp; add-ons.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32F2F"/>
                </a:solidFill>
              </a:defRPr>
            </a:pPr>
            <a:r>
              <a:t>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</a:defRPr>
            </a:pPr>
            <a:r>
              <a:t>Unsupported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9A825"/>
                </a:solidFill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</a:defRPr>
            </a:pPr>
            <a:r>
              <a:t>Dead / Dying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9E9E9E"/>
                </a:solidFill>
              </a:defRPr>
            </a:pPr>
            <a: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</a:defRPr>
            </a:pPr>
            <a:r>
              <a:t>Community-Built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A148C"/>
                </a:solidFill>
              </a:defRPr>
            </a:pPr>
            <a:r>
              <a:t>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</a:defRPr>
            </a:pPr>
            <a:r>
              <a:t>Non-Functional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9FD9"/>
                </a:solidFill>
              </a:defRPr>
            </a:pPr>
            <a:r>
              <a:t>Key Insights — The Numbers That Should Surprise Everyone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82880" y="2880360"/>
          <a:ext cx="114300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Insight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Ecosystem is mostly 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66 of 110 (60%) archived/deprecated/flagged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Customers navigate a graveyard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Almost no one has your 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Only 19 of 110 (17%) Cisco+Splunk supported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83% run on hope, not SLAs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Half is community-built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55 of 110 (50%), 48 different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No QA, no security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Massive consolidation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52 apps → absorbed by just 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App 7404 alone replaces 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 ticking time bombs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16 of 49 live apps (33%) = zero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1/3 of live apps have no 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 zombie apps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Deprecated but still downloadable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Customers install dead apps daily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Dev &gt; Cisco+Splunk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39 dev-supported vs 19 official (2×)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Volunteers carry our brand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Only 17% backed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Cisco: 13, Splunk: 6, everyone else: 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$28B acquisition, &lt;1 in 5 backed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82880" y="5623560"/>
            <a:ext cx="11795760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74% of Cisco’s Splunkbase ecosystem is non-functional, unsupported, or flagged.  CCC is the aspirin. The Super App is the cure.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32F2F"/>
                </a:solidFill>
              </a:defRPr>
            </a:pPr>
            <a:r>
              <a:t>Financial Impact: Fragmented TAs → thousands of wasted TAC hours, delayed Time-to-Value for multi-million dollar 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32F2F"/>
                </a:solidFill>
              </a:defRPr>
            </a:pPr>
            <a:r>
              <a:t>2. The Confusion Problem — 13 Apps, 1 Correct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A customer searching Splunkbase for "Cisco Firewall" encounters 13 different results: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371600"/>
          <a:ext cx="7040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App Name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Built By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Splunk Add-on for Cisco FireSIGHT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Archived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Splunk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Secure eStreamer Client Add-On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Firepower eNcore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Secure Firewall App for Splunk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Superseded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Splunk Add-on for Cisco 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Splunk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Enosys eStreamer Add-on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FTD sourcetype 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FTD Dashboards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Firepower pcap Add-on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eStreamer Client for Splunk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Firegen Log Analyzer for Cisco 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Security Suite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Suite for Splunk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45920"/>
            <a:ext cx="3657600" cy="1371600"/>
          </a:xfrm>
          <a:prstGeom prst="roundRect">
            <a:avLst/>
          </a:prstGeom>
          <a:solidFill>
            <a:srgbClr val="65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CORRECT ANSWER:</a:t>
            </a:r>
            <a:br/>
            <a:br/>
            <a:r>
              <a:t>Install Cisco</a:t>
            </a:r>
            <a:br/>
            <a:r>
              <a:t>Security Cloud</a:t>
            </a:r>
            <a:br/>
            <a:r>
              <a:t>(1 add-on)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Top 10 Worst Offenders: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840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12121"/>
                </a:solidFill>
              </a:defRPr>
            </a:pPr>
            <a:r>
              <a:t>Firewall: 13 legacy apps</a:t>
            </a:r>
          </a:p>
          <a:p>
            <a:pPr>
              <a:spcAft>
                <a:spcPts val="400"/>
              </a:spcAft>
              <a:defRPr sz="1100">
                <a:solidFill>
                  <a:srgbClr val="212121"/>
                </a:solidFill>
              </a:defRPr>
            </a:pPr>
            <a:r>
              <a:t>Webex: 8</a:t>
            </a:r>
          </a:p>
          <a:p>
            <a:pPr>
              <a:spcAft>
                <a:spcPts val="400"/>
              </a:spcAft>
              <a:defRPr sz="1100">
                <a:solidFill>
                  <a:srgbClr val="212121"/>
                </a:solidFill>
              </a:defRPr>
            </a:pPr>
            <a:r>
              <a:t>Meraki: 5  •  Catalyst Center: 5</a:t>
            </a:r>
          </a:p>
          <a:p>
            <a:pPr>
              <a:spcAft>
                <a:spcPts val="400"/>
              </a:spcAft>
              <a:defRPr sz="1100">
                <a:solidFill>
                  <a:srgbClr val="212121"/>
                </a:solidFill>
              </a:defRPr>
            </a:pPr>
            <a:r>
              <a:t>Nexus: 5  •  Umbrella: 4</a:t>
            </a:r>
          </a:p>
          <a:p>
            <a:pPr>
              <a:spcAft>
                <a:spcPts val="400"/>
              </a:spcAft>
              <a:defRPr sz="1100">
                <a:solidFill>
                  <a:srgbClr val="212121"/>
                </a:solidFill>
              </a:defRPr>
            </a:pPr>
            <a:r>
              <a:t>NVM: 3  •  SNA: 3  •  ISE: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1264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32F2F"/>
                </a:solidFill>
              </a:defRPr>
            </a:pPr>
            <a:r>
              <a:t>93 total legacy entries across 29 of 57 products (51%).  Wrong app = blank dashboards, broken lookups, duplicate sourcetypes.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3. Stakeholder Feedback — 20+ SMEs Consulted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32F2F"/>
                </a:solidFill>
              </a:defRPr>
            </a:pPr>
            <a:r>
              <a:t>“The current state is a disaster resulting from a lack of holistic strategy.”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— James Young, Principal Global Security Product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17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32F2F"/>
                </a:solidFill>
              </a:defRPr>
            </a:pPr>
            <a:r>
              <a:t>“One Cisco marketing is outpacing our technical execution — customers are calling us out.”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— Bryan Pluta, Principal Solutions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32F2F"/>
                </a:solidFill>
              </a:defRPr>
            </a:pPr>
            <a:r>
              <a:t>“CyberCX built their own TAs for 7 years — we risk losing mindshare.”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— Daniel Peluso, ANZ Splunk Partner SE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32F2F"/>
                </a:solidFill>
              </a:defRPr>
            </a:pPr>
            <a:r>
              <a:t>“TA sprawl is a hurdle for the Cisco sales force — we need a turnkey experience.”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— Matt Poland, Sr. Director, SE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965960"/>
          <a:ext cx="5577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Too many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13 for Firewall; 110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47% unsupported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52 apps with zero support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51% archived but still referenced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Old blog posts → dead apps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50% community-built, no QA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48 developers; CIM conflicts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Blank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Install → empty panels → TAC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Version fragmentation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No in-product update alerts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No migration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Legacy coexists with modern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Duplicate sourcetypes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Two TAs claim cisco:asa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Platform incompatibility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Cloud vs Enterprise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Knowledge gap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Splunk + Python + Cisco rare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Support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Cisco TAC requires contract; admins bounced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Competitive 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Palo Alto AI parsing; partners use Microsoft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0040" y="5440680"/>
            <a:ext cx="5760720" cy="54864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⚠ BRAND RISK: 50% community-built (48 developers) = Cisco doesn't own its telemetry 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6035040"/>
            <a:ext cx="1152144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END-TO-END MANDATE: Data → CIM → Dashboards → ESCU Detections → SOAR Playbooks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5A637"/>
                </a:solidFill>
              </a:defRPr>
            </a:pPr>
            <a:r>
              <a:t>The "Magic 6" Best Practices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0" y="246888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5A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 Practice</a:t>
                      </a:r>
                    </a:p>
                  </a:txBody>
                  <a:tcPr>
                    <a:solidFill>
                      <a:srgbClr val="65A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65A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Unified add-on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 install, no conflicts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Dynamic Config Engine (DCE)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Zero-footprint, no bloat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Sourcetype validation (MTTI)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Prove data flows → reduce TAC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Legacy debt detection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Auto-flag what to remove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Platform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Right config every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Centralized catalog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One pane of glass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58368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5A637"/>
                </a:solidFill>
              </a:defRPr>
            </a:pPr>
            <a:r>
              <a:t>If every TA followed these 6 principles,</a:t>
            </a:r>
            <a:br/>
            <a:r>
              <a:t>the top 12 challenges would disappear.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4. Option 1: Hire &amp; Build — Doesn't Scale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Build 1 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3–4 engineer-months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Feasible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23 TAs (current)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69–92 eng-months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6–8 engineer-years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57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171–228 eng-months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14–19 engineer-years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400 data sources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1,200–1,600 eng-months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100–133 engineer-years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The Knowledge Problem — 4 Domains, Very Few Unicorns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2560320" cy="640080"/>
          </a:xfrm>
          <a:prstGeom prst="round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Splunk UCC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389120"/>
            <a:ext cx="256032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Python &amp; Scripting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2560320" cy="6400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Splunk Platform</a:t>
            </a:r>
            <a:br/>
            <a:r>
              <a:t>props / CIM / SPL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120640"/>
            <a:ext cx="2560320" cy="64008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Cisco Domain</a:t>
            </a:r>
            <a:br/>
            <a:r>
              <a:t>APIs / Syslog / MIBs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663440"/>
            <a:ext cx="2743200" cy="82296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⭐ THE UNICORN</a:t>
            </a:r>
            <a:br/>
            <a:r>
              <a:t>Knows All Four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4709160"/>
            <a:ext cx="548640" cy="2286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5486400" y="4709160"/>
            <a:ext cx="548640" cy="2286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2926080" y="5440680"/>
            <a:ext cx="548640" cy="2286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486400" y="5440680"/>
            <a:ext cx="548640" cy="22860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59436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32F2F"/>
                </a:solidFill>
              </a:defRPr>
            </a:pPr>
            <a:r>
              <a:t>Conclusion: We cannot hire our way out of this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5. Option 2: Super App Bundling — Right Direction, Still Expensive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4846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Super Add-on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Cisco Security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19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19 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Cisco Catalyst Add-on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13 networking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13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Cisco DC 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 data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 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35 → 3 add-ons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~12 :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097280"/>
          <a:ext cx="54864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65A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65A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65A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Customer installs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23 separate 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 Super Add-ons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Upgrade cycles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23 paths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Splunkbase confusion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110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 clear choices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Version conflicts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Constant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Eliminated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Fragmented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Unified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6576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A825"/>
                </a:solidFill>
              </a:defRPr>
            </a:pPr>
            <a:r>
              <a:t>But It Still Has Challenges: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Maintenance cost — many mini-TAs inside; still need per-product parsing updates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Regression risk — updating Firewall parsing could break Duo parsing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Release velocity — can't ship a fix without regression-testing all products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Blank dashboard problem — app installed ≠ data flowing; static configs validate nothing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Knowledge bottleneck — still need engineers who understand each product's data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1264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A825"/>
                </a:solidFill>
              </a:defRPr>
            </a:pPr>
            <a:r>
              <a:t>Super App is the right architecture, but doesn't solve cost, speed, and quality by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49FD9"/>
                </a:solidFill>
              </a:defRPr>
            </a:pPr>
            <a:r>
              <a:t>6. Two Deliverables — Quick Win + Strategic Play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97280"/>
            <a:ext cx="5486400" cy="82296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DELIVERABLE 1: Cisco Control Center (CCC)</a:t>
            </a:r>
            <a:br/>
            <a:r>
              <a:t>"The Front Door"  •  Ships in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✅  Catalog 57 products with correct add-on for each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✅  Monitor 321 sourcetypes — Proof of Innocence (MTTI)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✅  Auto-detect 93 legacy apps and warn what to remove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✅  Map SOAR (10), ITSI (4), alert actions (3)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✅  One-click dashboard launch for 26 products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✅  Platform-aware guidance (Cloud vs Enterprise)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“The network is innocent until proven guilty —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CCC provides the proof in seconds.”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Lightweight: no conf generation, no data collection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Splunkbase in 2–3 weeks (AppInspect + packaging)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57784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DELIVERABLE 2: Enterprise Networking Super App</a:t>
            </a:r>
            <a:br/>
            <a:r>
              <a:t>"The Engineering Solution"  •  3–6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574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Dynamic Configuration Engine (DCE) — just-in-time activation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Master Library — gold-standard mini-TAs per product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Logical Isolation — Meraki error can't crash ASA or ISE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Tier-Aware — Full Stack / Heavy Forwarder / Search Head Only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Zero-footprint — nothing active until admin enables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6 products onboarded (ASA, DC Net, Intersight, Meraki, UCS, Webex)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🔒 Security: removes 93 legacy apps → reduced attack surface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CDF Alignment — mini-TAs = Data Products for Data Fabric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MCP Integration — AI-ready telemetry for autonomous agents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</a:defRPr>
            </a:pPr>
            <a:r>
              <a:t>NetFlow/IPFIX — first-class foundational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463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49FD9"/>
                </a:solidFill>
              </a:defRPr>
            </a:pPr>
            <a:r>
              <a:t>CCC is the aspirin.  The Super App is the cure.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5349240"/>
          <a:ext cx="923544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CCC (Quick Win)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Super App (Strategic)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Guide to the right 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Replace legacy TAs entirely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Ships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2–3 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3–6 months (v1)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Customer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What do I install?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One app, activate what I need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Low — packaging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Medium — expand &amp; harden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Solves confusion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✅ Immediately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✅ Permanently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Solves blank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✅ Detects missing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✅ Active products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Solves legacy debt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t>✅ Warns about legacy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✅ Replaces entirely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7. The AI-Powered 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9E9E"/>
                </a:solidFill>
              </a:defRPr>
            </a:pPr>
            <a:r>
              <a:t>Leveraging FDSE (Rafal Piekarz) for AI-driven maintenance + HCL for validation.</a:t>
            </a:r>
            <a:br/>
            <a:r>
              <a:t>“Palo Alto has already implemented AI-driven parsing, proving viability.” — Dimitri McKay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754880"/>
            <a:ext cx="2743200" cy="640080"/>
          </a:xfrm>
          <a:prstGeom prst="round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TACO Framework</a:t>
            </a:r>
            <a:br/>
            <a:r>
              <a:t>Certification in &lt;24hrs</a:t>
            </a:r>
            <a:br/>
            <a:r>
              <a:t>(vs. multi-week manual)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0" y="4754880"/>
            <a:ext cx="2926080" cy="640080"/>
          </a:xfrm>
          <a:prstGeom prst="roundRect">
            <a:avLst/>
          </a:prstGeom>
          <a:solidFill>
            <a:srgbClr val="65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Activation Telemetry</a:t>
            </a:r>
            <a:br/>
            <a:r>
              <a:t>per Kunal: every DCE toggle</a:t>
            </a:r>
            <a:br/>
            <a:r>
              <a:t>emits ROI proof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463040"/>
          <a:ext cx="50292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Data source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1–2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Input configuration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1–2 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Hours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Parsing (props/transforms)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2–4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CIM mapping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1–2 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2–4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Human validation (HCL)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1–2 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1–2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3–4 months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2–3 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0" y="137160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84632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Option 1: Hire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Option 2: Static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Our Approach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 TA per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Bundled, 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Dynamic Super App + DCE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Intelligence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CCC + MTTI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AI authoring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AI drafts, humans validate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$$$$$ (100+ eng-yrs)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$$$ (6–8 eng-yrs)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$ (&lt;1 eng-yr)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3–4 months/TA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2–3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2–3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Scale to 400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Impossible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Very expensive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Feasible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8. Next Steps &amp;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05840"/>
          <a:ext cx="10424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Ship CCC to Splunkbase — package, AppInspect, certify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2–3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Expand Super App Master Library (next 5 products)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AK + HCL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0–3 months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Pilot AI-assisted TA authoring on 3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AK + HCL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0–3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DECISION: Approve FDSE partnership (Rafal Piekarz) for AI-driven TA maintenance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Alan / Exec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This quarter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DECISION: Allocate HCL validation resources (2–3 engineers) for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Alan / Exec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This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Coordinate exec summary with Kunal Mukerjee — align CDF/MDL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Alan / AK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Next 2 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34747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Value Realization — Three-Phase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023360"/>
            <a:ext cx="3474720" cy="22860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Phase 1: "Stop the Bleeding"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</a:defRPr>
            </a:pPr>
            <a:r>
              <a:t>0–3 months  •  Immediate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Ship CCC to Splunkbase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Expand Master Library to 12+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Pilot AI authoring w/ FDSE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</a:defRPr>
            </a:pPr>
            <a:r>
              <a:t>Migrate top 10 legacy offenders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023360"/>
            <a:ext cx="3474720" cy="2286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Phase 2: "Scale the Portfolio"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E6C9"/>
                </a:solidFill>
              </a:defRPr>
            </a:pPr>
            <a:r>
              <a:t>3–6 months  •  Operational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846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Ship Super App v1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AI pipeline: 5–10 mini-TAs/month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NetFlow/IPFIX hardened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HCL validation cadence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023360"/>
            <a:ext cx="3840480" cy="2286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4114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Phase 3: "Own the Data Fabric"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480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EFB"/>
                </a:solidFill>
              </a:defRPr>
            </a:pPr>
            <a:r>
              <a:t>6–12 months  •  Strategic Differentiation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8463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Full CDF/MDL integration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MCP-driven AI features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200+ data sources covered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CCC + Super App = "One Cisco"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94760" y="5029200"/>
            <a:ext cx="36576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635240" y="5029200"/>
            <a:ext cx="36576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The Problem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Answer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110 apps, customers confused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CCC: ships in weeks, shows the right 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Blank dashboards, no validation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CCC monitors 321 sourcetypes; Super App activates what has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Legacy apps cause conflicts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CCC detects 93 legacy; Super App replaces entirely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TAs cost 3–4 months each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AI authoring: 2–3 weeks per product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Can't hire (400 = 133 eng-yrs)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AI drafts, humans validate, Super App scales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Static Super Apps have regression 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DCE: each product is an isolated mini-TA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43891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 Consolidation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3200400" cy="109728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TODAY</a:t>
            </a:r>
            <a:br/>
            <a:r>
              <a:t>110 apps  •  60% dead</a:t>
            </a:r>
            <a:br/>
            <a:r>
              <a:t>No guidance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3360" y="5212080"/>
            <a:ext cx="548640" cy="36576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63440" y="4937760"/>
            <a:ext cx="3200400" cy="109728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QUICK WIN: CCC</a:t>
            </a:r>
            <a:br/>
            <a:r>
              <a:t>"The Front Door"</a:t>
            </a:r>
            <a:br/>
            <a:r>
              <a:t>Ships in weeks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79" y="5212080"/>
            <a:ext cx="548640" cy="36576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0" y="4937760"/>
            <a:ext cx="320040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STRATEGIC: Super App</a:t>
            </a:r>
            <a:br/>
            <a:r>
              <a:t>"Activate What You Need"</a:t>
            </a:r>
            <a:br/>
            <a:r>
              <a:t>3–6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217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9FD9"/>
                </a:solidFill>
              </a:defRPr>
            </a:pPr>
            <a:r>
              <a:t>Together, they move Cisco from fragmented products to a unified Security &amp; Networking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Stakeholder Endorsements — 20+ SMEs Consulted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00584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Insight</a:t>
                      </a:r>
                    </a:p>
                  </a:txBody>
                  <a:tcPr>
                    <a:solidFill>
                      <a:srgbClr val="049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James Young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Principal Global Security Specialist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“A disaster... practitioner-led dev is faster than siloed 5-yr projects”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Bryan Pluta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Principal Solutions Engineer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“One Cisco marketing is outpacing execution — customers calling us out”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Daniel Peluso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ANZ Splunk Partner SE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“CyberCX built own TAs for 7 yrs — we risk losing mindshare”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Matt Poland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Sr. Director, 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“TA sprawl hurts the sales force — need turnkey, outcome-focused experience”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Colin Gibbens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Principal Engineer (CSC 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Built 16 integrations in 1 yr via SoftServe; supports expanding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Dimitri McKay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Principal Security Architect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Validated DCE for resource bloat; Palo Alto already has AI parsing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Sarav Radhakrishnan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Distinguished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Validated DCE POC; supports Two Super App strategy (Security vs Net)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Yaron Caspy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Engineering PM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Built SSE App because one-size-fits-all failed (millions of missed events)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Steven Moore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Cisco Solutions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“Network is a black box — infra is first point of blame” (coined MTTI)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Kunal Mukerjee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SVP Engineering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“TA Flywheel” vision; Master Library + DCE = CDF Data Products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2120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5A637"/>
                </a:solidFill>
              </a:defRPr>
            </a:pPr>
            <a:r>
              <a:t>Feedback unanimously supports the CCC + Dynamic Super App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49FD9"/>
                </a:solidFill>
              </a:defRPr>
            </a:pPr>
            <a:r>
              <a:t>CCC is the aspirin. The Super App is the cure.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49FD9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E9E"/>
                </a:solidFill>
              </a:defRPr>
            </a:pPr>
            <a:r>
              <a:t>Alan Ivarson  •  Group Vice President, Field Solutions</a:t>
            </a:r>
            <a:br/>
            <a:r>
              <a:t>Amir (AK) Khamis  •  Principal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co Light 05-12-2025">
  <a:themeElements>
    <a:clrScheme name="Cisco Light 04-16-2025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_PowerPoint_Template_LIGHT_05-12-2025.pptx" id="{114B2952-8AAA-4E63-8C04-090B2C9256ED}" vid="{CF3E30BE-9D3F-45A6-99C1-A9C7E84660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60D967E7E4E468F8E77D5EFBE9D35" ma:contentTypeVersion="4" ma:contentTypeDescription="Create a new document." ma:contentTypeScope="" ma:versionID="9b14ea8ec98ccbb5511658db2d6c416c">
  <xsd:schema xmlns:xsd="http://www.w3.org/2001/XMLSchema" xmlns:xs="http://www.w3.org/2001/XMLSchema" xmlns:p="http://schemas.microsoft.com/office/2006/metadata/properties" xmlns:ns2="1acc131a-528c-4fcd-b881-62a2db5af9e6" targetNamespace="http://schemas.microsoft.com/office/2006/metadata/properties" ma:root="true" ma:fieldsID="003069ad2547fa00a236fde7bbac5986" ns2:_="">
    <xsd:import namespace="1acc131a-528c-4fcd-b881-62a2db5af9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cc131a-528c-4fcd-b881-62a2db5af9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307547-160D-4032-B28D-1F27C36CD40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0BC7110-7CBC-4F7D-8FF0-EB91E98B2E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C70E-E56A-44F7-8358-8FAB51C664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cc131a-528c-4fcd-b881-62a2db5af9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2346</Words>
  <Application>Microsoft Macintosh PowerPoint</Application>
  <PresentationFormat>Widescreen</PresentationFormat>
  <Paragraphs>490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CiscoSansTT</vt:lpstr>
      <vt:lpstr>Calibri</vt:lpstr>
      <vt:lpstr>Arial</vt:lpstr>
      <vt:lpstr>CiscoSansTT Medium</vt:lpstr>
      <vt:lpstr>Cisco Light 05-12-2025</vt:lpstr>
      <vt:lpstr>Cisco-Splunk TA Strategy (latest from copilot)</vt:lpstr>
      <vt:lpstr>Agenda</vt:lpstr>
      <vt:lpstr>1. The Problem — 110 Apps, No Clear Answer</vt:lpstr>
      <vt:lpstr>2. The Confusion Problem — 13 Apps, 1 Correct Answer</vt:lpstr>
      <vt:lpstr>3. Stakeholder Feedback — 20+ SMEs Consulted</vt:lpstr>
      <vt:lpstr>4. Option 1: Hire &amp; Build — Doesn't Scale</vt:lpstr>
      <vt:lpstr>5. Option 2: Super App Bundling — Right Direction, Still Expensive</vt:lpstr>
      <vt:lpstr>6. Two Deliverables — Quick Win + Strategic Play</vt:lpstr>
      <vt:lpstr>7. The AI-Powered Path Forward</vt:lpstr>
      <vt:lpstr>8. Next Steps &amp; Roadmap</vt:lpstr>
      <vt:lpstr>PowerPoint Presentation</vt:lpstr>
      <vt:lpstr>Stakeholder Endorsements — 20+ SMEs Consulted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Light PowerPoint Template 05-12-2025</dc:title>
  <dc:subject/>
  <dc:creator>Adam Kinsman -X (akinsman - LIONBRIDGE TECHNOLOGIES LLC at Cisco)</dc:creator>
  <cp:keywords/>
  <dc:description/>
  <cp:lastModifiedBy>Amir (AK) Khamis (akkhamis)</cp:lastModifiedBy>
  <cp:revision>2</cp:revision>
  <dcterms:created xsi:type="dcterms:W3CDTF">2025-05-12T20:10:00Z</dcterms:created>
  <dcterms:modified xsi:type="dcterms:W3CDTF">2026-02-23T15:11:14Z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2025-05-12T20:10:07Z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229d8e1b-89c9-4c1f-a86b-7faf3cc1fcff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Cisco Light 05-12-2025:8</vt:lpwstr>
  </property>
  <property fmtid="{D5CDD505-2E9C-101B-9397-08002B2CF9AE}" pid="11" name="ClassificationContentMarkingFooterText">
    <vt:lpwstr>Cisco Confidential</vt:lpwstr>
  </property>
  <property fmtid="{D5CDD505-2E9C-101B-9397-08002B2CF9AE}" pid="12" name="ContentTypeId">
    <vt:lpwstr>0x01010062C60D967E7E4E468F8E77D5EFBE9D35</vt:lpwstr>
  </property>
</Properties>
</file>